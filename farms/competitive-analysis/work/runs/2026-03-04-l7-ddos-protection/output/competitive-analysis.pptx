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1371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Competitive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E86C1"/>
                </a:solidFill>
              </a:defRPr>
            </a:pPr>
            <a:r>
              <a:t>L7 DDoS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BBCC"/>
                </a:solidFill>
              </a:defRPr>
            </a:pPr>
            <a:r>
              <a:t>March 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CC"/>
                </a:solidFill>
              </a:defRPr>
            </a:pPr>
            <a:r>
              <a:t>Classification: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CC"/>
                </a:solidFill>
              </a:defRPr>
            </a:pPr>
            <a:r>
              <a:t>Audience: Leadership / Executive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A4A4A"/>
                </a:solidFill>
              </a:defRPr>
            </a:pPr>
            <a:r>
              <a:t>Internal  |  Competitive Analysis Agent Farm  |  March 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C1C1C"/>
                </a:solidFill>
              </a:defRPr>
            </a:pPr>
            <a:r>
              <a:t>Cloudflare is the clear market leader in L7 DDoS — autonomous, ML-driven, unmetered mitigation across a 321 Tbps network with ~3s time-to-mitigate.</a:t>
            </a:r>
          </a:p>
          <a:p>
            <a:pPr>
              <a:spcAft>
                <a:spcPts val="600"/>
              </a:spcAft>
              <a:defRPr sz="1700">
                <a:solidFill>
                  <a:srgbClr val="1C1C1C"/>
                </a:solidFill>
              </a:defRPr>
            </a:pPr>
            <a:r>
              <a:t>Azure WAF provides solid OWASP-based web application protection with strong native Azure integration, but treats L7 DDoS as a secondary use case.</a:t>
            </a:r>
          </a:p>
          <a:p>
            <a:pPr>
              <a:spcAft>
                <a:spcPts val="600"/>
              </a:spcAft>
              <a:defRPr sz="1700">
                <a:solidFill>
                  <a:srgbClr val="1C1C1C"/>
                </a:solidFill>
              </a:defRPr>
            </a:pPr>
            <a:r>
              <a:t>Primary competitive gap: No ML-based behavioral L7 DDoS detection in production — Cloudflare has shipped this; Azure WAF has not.</a:t>
            </a:r>
          </a:p>
          <a:p>
            <a:pPr>
              <a:spcAft>
                <a:spcPts val="600"/>
              </a:spcAft>
              <a:defRPr sz="1700">
                <a:solidFill>
                  <a:srgbClr val="1C1C1C"/>
                </a:solidFill>
              </a:defRPr>
            </a:pPr>
            <a:r>
              <a:t>Strategic imperative: Accelerate the dedicated L7 DDoS detection pipeline while leveraging current differentiators (MazeBolt RADAR, Azure security stack, FedRAMP High).</a:t>
            </a:r>
          </a:p>
          <a:p>
            <a:pPr>
              <a:spcAft>
                <a:spcPts val="600"/>
              </a:spcAft>
              <a:defRPr sz="1700">
                <a:solidFill>
                  <a:srgbClr val="1C1C1C"/>
                </a:solidFill>
              </a:defRPr>
            </a:pPr>
            <a:r>
              <a:t>Key differentiator today: MazeBolt RADAR — non-disruptive, validated L7 DDoS simulation exclusive to Azure. No competitor can match this.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Market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A4A4A"/>
                </a:solidFill>
              </a:defRPr>
            </a:pPr>
            <a:r>
              <a:t>Internal  |  Competitive Analysis Agent Farm  |  March 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4A4A"/>
                </a:solidFill>
              </a:defRPr>
            </a:pPr>
            <a:r>
              <a:t>Source note: All market data from Cloudflare DDoS Threat Reports (self-reported). No independent analyst data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1C1C"/>
                </a:solidFill>
              </a:defRPr>
            </a:pPr>
            <a:r>
              <a:t>21.3M DDoS attacks blocked by Cloudflare in 2024 (+53% YoY)</a:t>
            </a:r>
          </a:p>
          <a:p>
            <a:pPr>
              <a:spcAft>
                <a:spcPts val="600"/>
              </a:spcAft>
              <a:defRPr sz="1600">
                <a:solidFill>
                  <a:srgbClr val="1C1C1C"/>
                </a:solidFill>
              </a:defRPr>
            </a:pPr>
            <a:r>
              <a:t>L7 attacks now ~51% of all DDoS (Q4 2024) — application-layer is the new battleground</a:t>
            </a:r>
          </a:p>
          <a:p>
            <a:pPr>
              <a:spcAft>
                <a:spcPts val="600"/>
              </a:spcAft>
              <a:defRPr sz="1600">
                <a:solidFill>
                  <a:srgbClr val="1C1C1C"/>
                </a:solidFill>
              </a:defRPr>
            </a:pPr>
            <a:r>
              <a:t>72% of L7 attacks end in &lt;10 minutes — automated, always-on protection is critical</a:t>
            </a:r>
          </a:p>
          <a:p>
            <a:pPr>
              <a:spcAft>
                <a:spcPts val="600"/>
              </a:spcAft>
              <a:defRPr sz="1600">
                <a:solidFill>
                  <a:srgbClr val="1C1C1C"/>
                </a:solidFill>
              </a:defRPr>
            </a:pPr>
            <a:r>
              <a:t>73% of HTTP DDoS attacks launched by known botnets; Mirai variants +131% QoQ</a:t>
            </a:r>
          </a:p>
          <a:p>
            <a:pPr>
              <a:spcAft>
                <a:spcPts val="600"/>
              </a:spcAft>
              <a:defRPr sz="1600">
                <a:solidFill>
                  <a:srgbClr val="1C1C1C"/>
                </a:solidFill>
              </a:defRPr>
            </a:pPr>
            <a:r>
              <a:t>Hyper-volumetric attacks (&gt;1 Tbps) grew 1,885% QoQ in Q4 2024; record 5.6 Tbps mitigated</a:t>
            </a:r>
          </a:p>
          <a:p>
            <a:pPr>
              <a:spcAft>
                <a:spcPts val="600"/>
              </a:spcAft>
              <a:defRPr sz="1600">
                <a:solidFill>
                  <a:srgbClr val="1C1C1C"/>
                </a:solidFill>
              </a:defRPr>
            </a:pPr>
            <a:r>
              <a:t>Ransom DDoS up 78% QoQ in Q4 2024; 12% of targets received extortion threats</a:t>
            </a:r>
          </a:p>
          <a:p>
            <a:pPr>
              <a:spcAft>
                <a:spcPts val="600"/>
              </a:spcAft>
              <a:defRPr sz="1600">
                <a:solidFill>
                  <a:srgbClr val="1C1C1C"/>
                </a:solidFill>
              </a:defRPr>
            </a:pPr>
            <a:r>
              <a:t>Unmetered DDoS becoming table stakes — Cloudflare offers unlimited protection on all plans (including Free)</a:t>
            </a:r>
          </a:p>
          <a:p>
            <a:pPr>
              <a:spcAft>
                <a:spcPts val="600"/>
              </a:spcAft>
              <a:defRPr sz="1600">
                <a:solidFill>
                  <a:srgbClr val="1C1C1C"/>
                </a:solidFill>
              </a:defRPr>
            </a:pPr>
            <a:r>
              <a:t>PeerSpot WAF mindshare: Imperva 8.1%, Fortinet FortiWeb 7.5%, Azure WAF 2.8%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Comparison Matrix: Azure WAF vs. Cloudflare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A4A4A"/>
                </a:solidFill>
              </a:defRPr>
            </a:pPr>
            <a:r>
              <a:t>Internal  |  Competitive Analysis Agent Farm  |  March 4,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709160"/>
                <a:gridCol w="470916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Azure WAF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Cloudflare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L7 DDoS Approach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Composite: rate limiting + bot rules + custom rules. No dedicated engine.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Purpose-built: Autonomous ML engine. ~3s mitigate. No human intervention.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ML/AI Detection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Rule-based anomaly scoring. No adaptive L7 DDoS profiling.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Adaptive DDoS: 7-day ML traffic profiling per zone.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Attack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OWASP CRS + bot rules. No L7 DDoS-specific signatures.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HTTP floods, H2 Rapid Reset, Slowloris, cache busting, TLS exhaustion, 20+ vectors.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Network Capacity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Not publicly disclosed.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321 Tbps across 330+ cities. Mitigated 5.6 Tbps (2024).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Time to Mitigate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No published benchmark.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~3 seconds average.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Unmetered DDoS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No. Capacity-based pricing.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Yes. All plans including Free ($0).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Pricing (DDoS)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WAF: $0.443/gw-hr + CU. DDoS Prot: ~$2,944/mo.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Free–$200/mo + Enterprise custom. Unmetered.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Azure Integration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Native: Sentinel, Defender, Monitor, Portal.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External: Logpush, API, Terraform.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Multi-Cloud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Azure-only.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Cloud-agnostic. Any origin.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Time-to-Value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App Gateway/Front Door provisioning + rule tuning.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DNS change. Protection in minutes.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PCI-DSS. FedRAMP High likely (verify).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C1C1C"/>
                          </a:solidFill>
                        </a:defRPr>
                      </a:pPr>
                      <a:r>
                        <a:t>SOC 2, ISO 27001, PCI DSS, FedRAMP Moderate.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Azure WAF —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A4A4A"/>
                </a:solidFill>
              </a:defRPr>
            </a:pPr>
            <a:r>
              <a:t>Internal  |  Competitive Analysis Agent Farm  |  March 4,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303520" cy="411480"/>
          </a:xfrm>
          <a:prstGeom prst="roundRect">
            <a:avLst/>
          </a:prstGeom>
          <a:solidFill>
            <a:srgbClr val="1E8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STRENGTHS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5303520" cy="233172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Native Azure integration — Sentinel, Defender, Monitor single-pane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Flexible deployment: App Gateway, Front Door, CDN, Containers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OWASP CRS 3.2 with anomaly scoring engine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MazeBolt RADAR — validated L7 DDoS simulation (Azure exclusive)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Enterprise trust: Microsoft support + Defender ecosystem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Cost-effective WAF management for existing Azure 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WEAKNESSES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03520" cy="233172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No dedicated L7 DDoS engine — manual rule assembly required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L3/L4 DDoS requires separate ~$2,944/mo Azure DDoS Protection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Capacity-based pricing — large attacks increase costs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Azure-only — no multi-cloud or on-prem support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Only 2.8% PeerSpot WAF mindshare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Configuration complexity cited by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11064240" cy="41148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26280"/>
            <a:ext cx="1106424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OWASP CRS 3.0/3.1/3.2 managed rulesets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IP-based rate limiting (1-min / 5-min windows)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Bot Manager Rule Set + Microsoft Threat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Custom rules with match conditions (headers, cookies, geo, IP)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Detection and Prevention modes for safe rollout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Cloudflare —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A4A4A"/>
                </a:solidFill>
              </a:defRPr>
            </a:pPr>
            <a:r>
              <a:t>Internal  |  Competitive Analysis Agent Farm  |  March 4,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303520" cy="411480"/>
          </a:xfrm>
          <a:prstGeom prst="roundRect">
            <a:avLst/>
          </a:prstGeom>
          <a:solidFill>
            <a:srgbClr val="1E8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STRENGTHS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5303520" cy="233172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Unmetered DDoS on all plans — even Free ($0)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321 Tbps network; mitigated 5.6 Tbps attack autonomously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Fully autonomous detection — ~3s time-to-mitigate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Comprehensive L7 attack coverage in single managed ruleset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Adaptive ML protection — per-zone traffic profiling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Industry-leading threat intel + public DDoS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0352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WEAKNESSES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03520" cy="233172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Advanced features require Enterprise tier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Reverse-proxy requirement for L7 protection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Less native cloud-platform integration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Enterprise pricing is opaque (custom-quoted)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Wirefilter syntax has learning curve vs. portal builder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11064240" cy="41148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26280"/>
            <a:ext cx="1106424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Autonomous DDoS engine with real-time signature generation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HTTP DDoS Attack Protection Managed Ruleset (20+ vectors)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Adaptive DDoS Protection — ML 7-day traffic profiling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ML-based bot scoring with known botnet fingerprinting</a:t>
            </a:r>
          </a:p>
          <a:p>
            <a:pPr>
              <a:spcAft>
                <a:spcPts val="400"/>
              </a:spcAft>
              <a:defRPr sz="1300">
                <a:solidFill>
                  <a:srgbClr val="4A4A4A"/>
                </a:solidFill>
              </a:defRPr>
            </a:pPr>
            <a:r>
              <a:t>• Flexible rate limiting + custom WAF rules (wirefilter)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Battle Cards: Azure WAF vs. Cloudflare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A4A4A"/>
                </a:solidFill>
              </a:defRPr>
            </a:pPr>
            <a:r>
              <a:t>Internal  |  Competitive Analysis Agent Farm  |  March 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392B"/>
                </a:solidFill>
              </a:defRPr>
            </a:pPr>
            <a:r>
              <a:t>⚠️ Internal — do not distribute externally.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42999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00400"/>
                <a:gridCol w="3200400"/>
                <a:gridCol w="3749039"/>
              </a:tblGrid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Azure WAF Wins Because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Cloudflare Wins Because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Objection Handler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</a:defRPr>
                      </a:pPr>
                      <a:r>
                        <a:t>Azure</a:t>
                      </a:r>
                    </a:p>
                    <a:p>
                      <a:pPr>
                        <a:defRPr sz="1000" b="1">
                          <a:solidFill>
                            <a:srgbClr val="1C1C1C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Single-pane: Sentinel, Defender,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Monitor. No context-switching.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N/A — cloud-agnostic,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no native Azure integration.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"We use Splunk" → Azure also integrates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via diagnostic settings. Unique: correlated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security across Azure networking + identity.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</a:defRPr>
                      </a:pPr>
                      <a:r>
                        <a:t>L7 DDoS</a:t>
                      </a:r>
                    </a:p>
                    <a:p>
                      <a:pPr>
                        <a:defRPr sz="1000" b="1">
                          <a:solidFill>
                            <a:srgbClr val="1C1C1C"/>
                          </a:solidFill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Detection/Prevention modes allow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controlled rollout, fewer false positives.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Fully autonomous ~3s mitigate.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72% of L7 attacks end in &lt;10 min.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Lead with MazeBolt RADAR validated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testing. Our WAF+DDoS covers L3-L7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with full Defender ecosystem.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</a:defRPr>
                      </a:pPr>
                      <a:r>
                        <a:t>ML/Adaptive</a:t>
                      </a:r>
                    </a:p>
                    <a:p>
                      <a:pPr>
                        <a:defRPr sz="1000" b="1">
                          <a:solidFill>
                            <a:srgbClr val="1C1C1C"/>
                          </a:solidFill>
                        </a:defRPr>
                      </a:pPr>
                      <a:r>
                        <a:t>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Anomaly scoring + MS Threat Intel.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Azure-only signals unavailable to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external vendors.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Production Adaptive DDoS: 7-day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ML profiling, multi-signal anomaly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detection at scale.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Acknowledge gap. Our strength: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correlated security intel across Azure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platform (Defender, Sentinel, Entra ID).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</a:defRPr>
                      </a:pPr>
                      <a:r>
                        <a:t>Attack</a:t>
                      </a:r>
                    </a:p>
                    <a:p>
                      <a:pPr>
                        <a:defRPr sz="1000" b="1">
                          <a:solidFill>
                            <a:srgbClr val="1C1C1C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OWASP CRS 3.2 + MazeBolt RADAR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validates actual coverage with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non-disruptive simulation.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Dedicated L7 DDoS ruleset: HTTP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floods, H2 Rapid Reset, Slowloris,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cache busting, 20+ vectors.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"Can your vendor demonstrate validated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protection under simulated attack, or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just show a list of supported types?"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</a:defRPr>
                      </a:pPr>
                      <a:r>
                        <a:t>Pricing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WAF included in App Gateway/Front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Door. No separate vendor contract.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Unmetered DDoS on all plans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including Free ($0). No bandwidth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penalties.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Azure pricing = enterprise SLA + support.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Include vendor consolidation savings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and MS Unified Support value.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C1C1C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FedRAMP High (Azure Gov).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Critical for U.S. federal.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FedRAMP Moderate only.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Does not meet High.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Clear differentiator for federal</a:t>
                      </a:r>
                    </a:p>
                    <a:p>
                      <a:pPr>
                        <a:defRPr sz="1000" b="0">
                          <a:solidFill>
                            <a:srgbClr val="1C1C1C"/>
                          </a:solidFill>
                        </a:defRPr>
                      </a:pPr>
                      <a:r>
                        <a:t>and regulated workloads.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A4A4A"/>
                </a:solidFill>
              </a:defRPr>
            </a:pPr>
            <a:r>
              <a:t>Internal  |  Competitive Analysis Agent Farm  |  March 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392B"/>
                </a:solidFill>
              </a:defRPr>
            </a:pPr>
            <a:r>
              <a:t>⚠️ Internal — do not distribute externally.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17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2A4A"/>
                </a:solidFill>
              </a:defRPr>
            </a:pPr>
            <a:r>
              <a:t>Accelerate the Dedicated L7 DDoS Detection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830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4A4A"/>
                </a:solidFill>
              </a:defRPr>
            </a:pPr>
            <a:r>
              <a:t>ML-based behavioral detection is the #1 competitive gap. Cloudflare's autonomous engine is production-proven and expanding. Every quarter of delay widens the perception gap. Head-to-head: Cloudflare leads 9 of 13 dimensions.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71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2A4A"/>
                </a:solidFill>
              </a:defRPr>
            </a:pPr>
            <a:r>
              <a:t>Amplify MazeBolt RADAR &amp; Validated-Testing Narrative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3756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4A4A"/>
                </a:solidFill>
              </a:defRPr>
            </a:pPr>
            <a:r>
              <a:t>RADAR's non-disruptive L7 DDoS simulation is exclusive to Azure. Invest in case studies, benchmarks, and bake-off playbooks — counter Cloudflare's claim-without-proof approach.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526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2A4A"/>
                </a:solidFill>
              </a:defRPr>
            </a:pPr>
            <a:r>
              <a:t>Close the Messaging Gap with a Public L7 DDoS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9204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A4A4A"/>
                </a:solidFill>
              </a:defRPr>
            </a:pPr>
            <a:r>
              <a:t>Azure's reluctance to claim creates a vacuum competitors fill. Publish L7 DDoS protection guidance, attack coverage docs, and validated benchmarks. Align with 'Security by AI' positioning.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Questions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1371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DDEE"/>
                </a:solidFill>
              </a:defRPr>
            </a:pPr>
            <a:r>
              <a:t>Review gaps and open questions — prioritize data collection for unresolved items</a:t>
            </a:r>
          </a:p>
          <a:p>
            <a:pPr>
              <a:spcAft>
                <a:spcPts val="600"/>
              </a:spcAft>
              <a:defRPr sz="1800">
                <a:solidFill>
                  <a:srgbClr val="CCDDEE"/>
                </a:solidFill>
              </a:defRPr>
            </a:pPr>
            <a:r>
              <a:t>Validate Azure WAF compliance certifications (SOC 2, ISO 27001, FedRAMP High) via Azure Trust Center</a:t>
            </a:r>
          </a:p>
          <a:p>
            <a:pPr>
              <a:spcAft>
                <a:spcPts val="600"/>
              </a:spcAft>
              <a:defRPr sz="1800">
                <a:solidFill>
                  <a:srgbClr val="CCDDEE"/>
                </a:solidFill>
              </a:defRPr>
            </a:pPr>
            <a:r>
              <a:t>Establish win/loss tracking for L7 DDoS competitive encounters</a:t>
            </a:r>
          </a:p>
          <a:p>
            <a:pPr>
              <a:spcAft>
                <a:spcPts val="600"/>
              </a:spcAft>
              <a:defRPr sz="1800">
                <a:solidFill>
                  <a:srgbClr val="CCDDEE"/>
                </a:solidFill>
              </a:defRPr>
            </a:pPr>
            <a:r>
              <a:t>Consider extending analysis to include Akamai and Imperva</a:t>
            </a:r>
          </a:p>
          <a:p>
            <a:pPr>
              <a:spcAft>
                <a:spcPts val="600"/>
              </a:spcAft>
              <a:defRPr sz="1800">
                <a:solidFill>
                  <a:srgbClr val="CCDDEE"/>
                </a:solidFill>
              </a:defRPr>
            </a:pPr>
            <a:r>
              <a:t>Align on ML-based L7 DDoS detection pipeline timeline with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899AA"/>
                </a:solidFill>
              </a:defRPr>
            </a:pPr>
            <a:r>
              <a:t>Competitive Analysis Agent Farm  |  March 4, 2026  |  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